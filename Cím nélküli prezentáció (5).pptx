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8" r:id="rId6"/>
    <p:sldId id="260" r:id="rId7"/>
    <p:sldId id="261" r:id="rId8"/>
    <p:sldId id="262" r:id="rId9"/>
    <p:sldId id="263" r:id="rId10"/>
    <p:sldId id="264" r:id="rId11"/>
    <p:sldId id="266" r:id="rId12"/>
    <p:sldId id="268" r:id="rId13"/>
    <p:sldId id="269" r:id="rId14"/>
    <p:sldId id="270" r:id="rId15"/>
    <p:sldId id="271" r:id="rId16"/>
    <p:sldId id="277" r:id="rId17"/>
    <p:sldId id="272" r:id="rId18"/>
    <p:sldId id="267" r:id="rId19"/>
    <p:sldId id="265" r:id="rId20"/>
    <p:sldId id="273" r:id="rId21"/>
    <p:sldId id="275" r:id="rId22"/>
    <p:sldId id="276" r:id="rId23"/>
  </p:sldIdLst>
  <p:sldSz cx="9144000" cy="5143500" type="screen16x9"/>
  <p:notesSz cx="6858000" cy="9144000"/>
  <p:embeddedFontLst>
    <p:embeddedFont>
      <p:font typeface="Lato" panose="020B0604020202020204" charset="-18"/>
      <p:regular r:id="rId25"/>
      <p:bold r:id="rId26"/>
      <p:italic r:id="rId27"/>
      <p:boldItalic r:id="rId28"/>
    </p:embeddedFont>
    <p:embeddedFont>
      <p:font typeface="Montserrat" panose="020B0604020202020204" charset="-18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zekas Dominik" initials="FD" lastIdx="1" clrIdx="0">
    <p:extLst>
      <p:ext uri="{19B8F6BF-5375-455C-9EA6-DF929625EA0E}">
        <p15:presenceInfo xmlns:p15="http://schemas.microsoft.com/office/powerpoint/2012/main" userId="S-1-5-21-2604211897-728469581-1642377047-1222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04T12:46:41.028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c14da508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c14da508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c13a02943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c13a02943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c13a02943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c13a02943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c13a02943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9c13a02943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c13a0294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c13a0294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299dda798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299dda798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299dda798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299dda798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c13a0294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c13a0294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c13a02943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c13a02943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299dda798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299dda798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c13a02943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c13a02943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299dda79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299dda79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299dda798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299dda798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299dda798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299dda798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299dda79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299dda79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c13a02943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c13a02943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i="1" u="sng" dirty="0"/>
              <a:t>DotNyetWork</a:t>
            </a:r>
            <a:endParaRPr b="1" i="1" u="sng"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366550" y="397727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we nyet to network issues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20033" y="3518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Projekten Dolgozók</a:t>
            </a:r>
            <a:endParaRPr b="1"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546375" y="1567550"/>
            <a:ext cx="77901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 dirty="0"/>
              <a:t>Ötvös Bence Elek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 dirty="0"/>
              <a:t>Somogyi Bánk</a:t>
            </a:r>
            <a:endParaRPr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endParaRPr lang="hu"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 dirty="0"/>
              <a:t>Fazekas Dominik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EADBC9DC-3451-4C03-8590-DCE6C6578568}"/>
              </a:ext>
            </a:extLst>
          </p:cNvPr>
          <p:cNvSpPr/>
          <p:nvPr/>
        </p:nvSpPr>
        <p:spPr>
          <a:xfrm>
            <a:off x="432391" y="1495647"/>
            <a:ext cx="8272130" cy="2911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3633250" y="3453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Eszközeink</a:t>
            </a:r>
            <a:endParaRPr b="1" dirty="0"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250" y="2403450"/>
            <a:ext cx="61722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9317512C-DAA7-4B7F-BE78-8DC47D6DD8E8}"/>
              </a:ext>
            </a:extLst>
          </p:cNvPr>
          <p:cNvSpPr/>
          <p:nvPr/>
        </p:nvSpPr>
        <p:spPr>
          <a:xfrm>
            <a:off x="1538250" y="2403450"/>
            <a:ext cx="6172200" cy="1676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Topológia</a:t>
            </a:r>
            <a:endParaRPr b="1" dirty="0"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DAE6746A-C67C-45D1-8DA9-5D80F364C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66" y="1072898"/>
            <a:ext cx="6720867" cy="3900503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C75D7D-6EF7-488B-8831-B5129060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Ruby</a:t>
            </a:r>
            <a:r>
              <a:rPr lang="hu-HU" b="1" dirty="0"/>
              <a:t> telephely fizikai eszközökön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9497D70-4829-4294-8B48-CDEE7F265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6DB6FAA-12A5-4362-86DC-A1D22DFC6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355" y="1312518"/>
            <a:ext cx="5163290" cy="37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35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3814775" y="4421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IP táblázat</a:t>
            </a: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97842778-9365-46D5-88B1-69C988712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823" y="195203"/>
            <a:ext cx="5782353" cy="4753094"/>
          </a:xfrm>
          <a:prstGeom prst="rect">
            <a:avLst/>
          </a:prstGeom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B4745D11-5081-40EA-8E2A-BC009FA1ADFE}"/>
              </a:ext>
            </a:extLst>
          </p:cNvPr>
          <p:cNvSpPr/>
          <p:nvPr/>
        </p:nvSpPr>
        <p:spPr>
          <a:xfrm>
            <a:off x="1680823" y="195203"/>
            <a:ext cx="5782353" cy="47530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1297500" y="442150"/>
            <a:ext cx="97104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SSH</a:t>
            </a:r>
            <a:endParaRPr b="1" dirty="0"/>
          </a:p>
        </p:txBody>
      </p:sp>
      <p:sp>
        <p:nvSpPr>
          <p:cNvPr id="168" name="Google Shape;168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9" name="Google Shape;169;p18" title="SSh-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75" y="2040250"/>
            <a:ext cx="8734425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4F823660-E971-42C2-8B0B-4C9790FABA21}"/>
              </a:ext>
            </a:extLst>
          </p:cNvPr>
          <p:cNvSpPr txBox="1"/>
          <p:nvPr/>
        </p:nvSpPr>
        <p:spPr>
          <a:xfrm>
            <a:off x="7676444" y="356973"/>
            <a:ext cx="1467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42A6CCB3-ECD5-4838-8057-6AC0F69BB6CF}"/>
              </a:ext>
            </a:extLst>
          </p:cNvPr>
          <p:cNvSpPr/>
          <p:nvPr/>
        </p:nvSpPr>
        <p:spPr>
          <a:xfrm>
            <a:off x="204775" y="2040250"/>
            <a:ext cx="8734425" cy="18192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SSH Teszt</a:t>
            </a:r>
            <a:endParaRPr b="1" dirty="0"/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6" name="Google Shape;176;p19" title="ssh-tesz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5" y="1905950"/>
            <a:ext cx="87820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546EA56-CE57-45B4-8663-59825161B8F4}"/>
              </a:ext>
            </a:extLst>
          </p:cNvPr>
          <p:cNvSpPr txBox="1"/>
          <p:nvPr/>
        </p:nvSpPr>
        <p:spPr>
          <a:xfrm>
            <a:off x="8015111" y="270933"/>
            <a:ext cx="947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70C15EC9-7BFF-4492-AEB2-81095EEFBD4C}"/>
              </a:ext>
            </a:extLst>
          </p:cNvPr>
          <p:cNvSpPr/>
          <p:nvPr/>
        </p:nvSpPr>
        <p:spPr>
          <a:xfrm>
            <a:off x="180975" y="1905950"/>
            <a:ext cx="8782050" cy="26860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SSH User</a:t>
            </a:r>
            <a:endParaRPr b="1" dirty="0"/>
          </a:p>
        </p:txBody>
      </p:sp>
      <p:sp>
        <p:nvSpPr>
          <p:cNvPr id="182" name="Google Shape;182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3" name="Google Shape;183;p20" title="ssh-us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700" y="1685388"/>
            <a:ext cx="5524600" cy="267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9F956935-442A-40B4-8352-0512ED864FC3}"/>
              </a:ext>
            </a:extLst>
          </p:cNvPr>
          <p:cNvSpPr txBox="1"/>
          <p:nvPr/>
        </p:nvSpPr>
        <p:spPr>
          <a:xfrm>
            <a:off x="7811911" y="393750"/>
            <a:ext cx="1174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5C699394-0EC5-4C8C-A4CF-2CB91B454BA2}"/>
              </a:ext>
            </a:extLst>
          </p:cNvPr>
          <p:cNvSpPr/>
          <p:nvPr/>
        </p:nvSpPr>
        <p:spPr>
          <a:xfrm>
            <a:off x="1809700" y="1685388"/>
            <a:ext cx="5524600" cy="26755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title"/>
          </p:nvPr>
        </p:nvSpPr>
        <p:spPr>
          <a:xfrm>
            <a:off x="3669550" y="3211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dirty="0"/>
              <a:t>VLAN</a:t>
            </a:r>
            <a:endParaRPr b="1" dirty="0"/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Vlan 10 és 20 létrehozása hálózatok elkülönítése érdekében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Vlan1 megszüntetése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Vlan 100 a  native Vlan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Vlan 999 nem használt portok</a:t>
            </a:r>
            <a:endParaRPr/>
          </a:p>
        </p:txBody>
      </p:sp>
      <p:pic>
        <p:nvPicPr>
          <p:cNvPr id="190" name="Google Shape;190;p21" title="vlan.png"/>
          <p:cNvPicPr preferRelativeResize="0"/>
          <p:nvPr/>
        </p:nvPicPr>
        <p:blipFill rotWithShape="1">
          <a:blip r:embed="rId3">
            <a:alphaModFix/>
          </a:blip>
          <a:srcRect b="39788"/>
          <a:stretch/>
        </p:blipFill>
        <p:spPr>
          <a:xfrm>
            <a:off x="1268025" y="3225127"/>
            <a:ext cx="7097850" cy="1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64F7722-3697-48B6-8BCB-F065D194AF13}"/>
              </a:ext>
            </a:extLst>
          </p:cNvPr>
          <p:cNvSpPr txBox="1"/>
          <p:nvPr/>
        </p:nvSpPr>
        <p:spPr>
          <a:xfrm>
            <a:off x="7744178" y="553156"/>
            <a:ext cx="1399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A0E1922F-B4C7-4F78-A07C-51A48480F7F4}"/>
              </a:ext>
            </a:extLst>
          </p:cNvPr>
          <p:cNvSpPr/>
          <p:nvPr/>
        </p:nvSpPr>
        <p:spPr>
          <a:xfrm>
            <a:off x="1297500" y="1644502"/>
            <a:ext cx="4493700" cy="15036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9A9DEF83-AE8C-4336-98BD-841FBB3BC753}"/>
              </a:ext>
            </a:extLst>
          </p:cNvPr>
          <p:cNvSpPr/>
          <p:nvPr/>
        </p:nvSpPr>
        <p:spPr>
          <a:xfrm>
            <a:off x="1268025" y="3225127"/>
            <a:ext cx="7097850" cy="13305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dirty="0"/>
              <a:t>ETHERCHANNEL</a:t>
            </a:r>
            <a:endParaRPr b="1" dirty="0"/>
          </a:p>
        </p:txBody>
      </p:sp>
      <p:sp>
        <p:nvSpPr>
          <p:cNvPr id="204" name="Google Shape;204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dirty="0"/>
              <a:t>ruby telephely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 dirty="0"/>
              <a:t>megbízhatóság</a:t>
            </a:r>
            <a:endParaRPr dirty="0"/>
          </a:p>
        </p:txBody>
      </p:sp>
      <p:pic>
        <p:nvPicPr>
          <p:cNvPr id="205" name="Google Shape;205;p23" title="EtherChannel-Sum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525" y="1567550"/>
            <a:ext cx="61150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5B0D86C7-1BA1-4B76-9295-963C1110ECC4}"/>
              </a:ext>
            </a:extLst>
          </p:cNvPr>
          <p:cNvSpPr txBox="1"/>
          <p:nvPr/>
        </p:nvSpPr>
        <p:spPr>
          <a:xfrm>
            <a:off x="7721600" y="393750"/>
            <a:ext cx="142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30F8D374-1220-45D7-BBBC-2BA2B9211202}"/>
              </a:ext>
            </a:extLst>
          </p:cNvPr>
          <p:cNvSpPr/>
          <p:nvPr/>
        </p:nvSpPr>
        <p:spPr>
          <a:xfrm>
            <a:off x="1247553" y="1630326"/>
            <a:ext cx="1304261" cy="687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>
            <a:spLocks noGrp="1"/>
          </p:cNvSpPr>
          <p:nvPr>
            <p:ph type="title"/>
          </p:nvPr>
        </p:nvSpPr>
        <p:spPr>
          <a:xfrm>
            <a:off x="3390925" y="4146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HSRP</a:t>
            </a:r>
            <a:endParaRPr b="1"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body" idx="1"/>
          </p:nvPr>
        </p:nvSpPr>
        <p:spPr>
          <a:xfrm>
            <a:off x="1297500" y="956675"/>
            <a:ext cx="7038900" cy="35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ruby router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ruby router 2</a:t>
            </a:r>
            <a:endParaRPr/>
          </a:p>
        </p:txBody>
      </p:sp>
      <p:pic>
        <p:nvPicPr>
          <p:cNvPr id="220" name="Google Shape;220;p25" title="HSRP-config-Ruby-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28763"/>
            <a:ext cx="683895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5" title="hsrp-config-Ruby-R2.png"/>
          <p:cNvPicPr preferRelativeResize="0"/>
          <p:nvPr/>
        </p:nvPicPr>
        <p:blipFill rotWithShape="1">
          <a:blip r:embed="rId4">
            <a:alphaModFix/>
          </a:blip>
          <a:srcRect r="8164"/>
          <a:stretch/>
        </p:blipFill>
        <p:spPr>
          <a:xfrm>
            <a:off x="1297500" y="3215875"/>
            <a:ext cx="691075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5D4CBEB-784E-4456-82D2-C702071F0818}"/>
              </a:ext>
            </a:extLst>
          </p:cNvPr>
          <p:cNvSpPr txBox="1"/>
          <p:nvPr/>
        </p:nvSpPr>
        <p:spPr>
          <a:xfrm>
            <a:off x="7868356" y="598311"/>
            <a:ext cx="1275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HSRP </a:t>
            </a:r>
            <a:r>
              <a:rPr lang="hu-HU" b="1" dirty="0"/>
              <a:t>TESZT</a:t>
            </a:r>
            <a:endParaRPr b="1"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8" name="Google Shape;228;p26" title="hsrp-teszt-kábel-v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58849"/>
            <a:ext cx="4251700" cy="1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 title="hsrp-teszt-kábel-nin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0475" y="3297300"/>
            <a:ext cx="5315125" cy="16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CB19240A-04D1-489B-9B92-30EBC5903D44}"/>
              </a:ext>
            </a:extLst>
          </p:cNvPr>
          <p:cNvSpPr txBox="1"/>
          <p:nvPr/>
        </p:nvSpPr>
        <p:spPr>
          <a:xfrm>
            <a:off x="8240889" y="393751"/>
            <a:ext cx="1185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EE6F24F1-FE84-4D0C-A76B-C8DB673CAF31}"/>
              </a:ext>
            </a:extLst>
          </p:cNvPr>
          <p:cNvSpPr/>
          <p:nvPr/>
        </p:nvSpPr>
        <p:spPr>
          <a:xfrm>
            <a:off x="0" y="1458849"/>
            <a:ext cx="4251700" cy="18384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06B4B0FF-209D-476C-880A-3E4F221BAE1A}"/>
              </a:ext>
            </a:extLst>
          </p:cNvPr>
          <p:cNvSpPr/>
          <p:nvPr/>
        </p:nvSpPr>
        <p:spPr>
          <a:xfrm>
            <a:off x="3730475" y="3297299"/>
            <a:ext cx="5315125" cy="1623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dirty="0"/>
              <a:t>DINAMIKUS FORGALOMIRÁNYÍTÁS</a:t>
            </a:r>
            <a:endParaRPr b="1" dirty="0"/>
          </a:p>
        </p:txBody>
      </p:sp>
      <p:sp>
        <p:nvSpPr>
          <p:cNvPr id="235" name="Google Shape;235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6" name="Google Shape;236;p27" title="OSPF-ip-protoco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1113" y="1198225"/>
            <a:ext cx="4829175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7" title="ospf-ipv6-protocol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605" y="1198229"/>
            <a:ext cx="4395701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88559A2-C1B2-4349-85C1-4EE00F0B02E1}"/>
              </a:ext>
            </a:extLst>
          </p:cNvPr>
          <p:cNvSpPr txBox="1"/>
          <p:nvPr/>
        </p:nvSpPr>
        <p:spPr>
          <a:xfrm>
            <a:off x="8173156" y="421021"/>
            <a:ext cx="10471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hu-HU" b="1" dirty="0"/>
              <a:t>DINAMIKUS FORGALOMIRÁNYÍTÁS</a:t>
            </a:r>
            <a:endParaRPr b="1" dirty="0"/>
          </a:p>
        </p:txBody>
      </p:sp>
      <p:sp>
        <p:nvSpPr>
          <p:cNvPr id="243" name="Google Shape;243;p2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4" name="Google Shape;244;p28" title="ip-ospf-data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7" y="1567550"/>
            <a:ext cx="4786875" cy="21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 title="ipv6-ospf-databa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852" y="1307850"/>
            <a:ext cx="3509144" cy="29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6E664F86-C88D-4E48-AA6D-B1EB6A2999F3}"/>
              </a:ext>
            </a:extLst>
          </p:cNvPr>
          <p:cNvSpPr txBox="1"/>
          <p:nvPr/>
        </p:nvSpPr>
        <p:spPr>
          <a:xfrm>
            <a:off x="8336400" y="393750"/>
            <a:ext cx="965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B0A95C-25B1-4FC5-A3FC-139AF3F4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NAT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99785AC-FE95-4615-AD2D-9FFBCC14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A21DDE84-E699-4195-B0DA-9C8FC4C62C27}"/>
              </a:ext>
            </a:extLst>
          </p:cNvPr>
          <p:cNvSpPr txBox="1"/>
          <p:nvPr/>
        </p:nvSpPr>
        <p:spPr>
          <a:xfrm>
            <a:off x="8222512" y="545805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504A6B4-2B9F-4E4E-97D6-0856EDE1F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96" y="2410371"/>
            <a:ext cx="7814608" cy="109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398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4052825" y="393750"/>
            <a:ext cx="42837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PPP</a:t>
            </a:r>
            <a:endParaRPr b="1" dirty="0"/>
          </a:p>
        </p:txBody>
      </p:sp>
      <p:sp>
        <p:nvSpPr>
          <p:cNvPr id="251" name="Google Shape;251;p29"/>
          <p:cNvSpPr txBox="1">
            <a:spLocks noGrp="1"/>
          </p:cNvSpPr>
          <p:nvPr>
            <p:ph type="body" idx="1"/>
          </p:nvPr>
        </p:nvSpPr>
        <p:spPr>
          <a:xfrm>
            <a:off x="2270950" y="139160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2" name="Google Shape;252;p29" title="Encapsulation PP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950" y="1963925"/>
            <a:ext cx="4859200" cy="107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 title="Encapsulation PPP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950" y="3236000"/>
            <a:ext cx="4859200" cy="10972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DA67FA36-C22B-4C95-9AF2-9C9A281BF7D0}"/>
              </a:ext>
            </a:extLst>
          </p:cNvPr>
          <p:cNvSpPr txBox="1"/>
          <p:nvPr/>
        </p:nvSpPr>
        <p:spPr>
          <a:xfrm>
            <a:off x="8336525" y="393750"/>
            <a:ext cx="973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b="1" dirty="0"/>
              <a:t>TUNNEL</a:t>
            </a:r>
            <a:endParaRPr b="1" dirty="0"/>
          </a:p>
        </p:txBody>
      </p:sp>
      <p:sp>
        <p:nvSpPr>
          <p:cNvPr id="211" name="Google Shape;211;p24"/>
          <p:cNvSpPr txBox="1">
            <a:spLocks noGrp="1"/>
          </p:cNvSpPr>
          <p:nvPr>
            <p:ph type="body" idx="1"/>
          </p:nvPr>
        </p:nvSpPr>
        <p:spPr>
          <a:xfrm>
            <a:off x="5280725" y="1567550"/>
            <a:ext cx="30558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" dirty="0">
                <a:solidFill>
                  <a:schemeClr val="bg1"/>
                </a:solidFill>
              </a:rPr>
              <a:t>weiss és ruby </a:t>
            </a:r>
            <a:r>
              <a:rPr lang="hu" dirty="0"/>
              <a:t>telephelyek között csináltuk meg</a:t>
            </a:r>
            <a:endParaRPr dirty="0"/>
          </a:p>
        </p:txBody>
      </p:sp>
      <p:pic>
        <p:nvPicPr>
          <p:cNvPr id="212" name="Google Shape;212;p24" title="tu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196" y="938896"/>
            <a:ext cx="3138050" cy="14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 title="tuntu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3200" y="2616321"/>
            <a:ext cx="4975925" cy="237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83DB250-3CC8-45B6-BD2A-F6BEBC4DD089}"/>
              </a:ext>
            </a:extLst>
          </p:cNvPr>
          <p:cNvSpPr txBox="1"/>
          <p:nvPr/>
        </p:nvSpPr>
        <p:spPr>
          <a:xfrm>
            <a:off x="7518400" y="541867"/>
            <a:ext cx="1761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WEISS</a:t>
            </a:r>
            <a:r>
              <a:rPr lang="hu" b="1" u="sng" dirty="0">
                <a:solidFill>
                  <a:schemeClr val="bg1"/>
                </a:solidFill>
              </a:rPr>
              <a:t> és </a:t>
            </a:r>
            <a:r>
              <a:rPr lang="hu-HU" b="1" u="sng" dirty="0">
                <a:solidFill>
                  <a:schemeClr val="bg1"/>
                </a:solidFill>
              </a:rPr>
              <a:t>RUBY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C6FB1BC1-E6C1-437C-BC82-920C8AF7DC7A}"/>
              </a:ext>
            </a:extLst>
          </p:cNvPr>
          <p:cNvSpPr/>
          <p:nvPr/>
        </p:nvSpPr>
        <p:spPr>
          <a:xfrm>
            <a:off x="5280725" y="1512575"/>
            <a:ext cx="2559015" cy="7415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b="1" dirty="0"/>
              <a:t>DHCP</a:t>
            </a:r>
            <a:endParaRPr b="1" dirty="0"/>
          </a:p>
        </p:txBody>
      </p:sp>
      <p:sp>
        <p:nvSpPr>
          <p:cNvPr id="196" name="Google Shape;196;p22"/>
          <p:cNvSpPr txBox="1">
            <a:spLocks noGrp="1"/>
          </p:cNvSpPr>
          <p:nvPr>
            <p:ph type="body" idx="1"/>
          </p:nvPr>
        </p:nvSpPr>
        <p:spPr>
          <a:xfrm>
            <a:off x="4081725" y="227775"/>
            <a:ext cx="2757300" cy="3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Weiss telephely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laptopok accesspoint tól kapnak DHCP-t</a:t>
            </a:r>
            <a:endParaRPr/>
          </a:p>
        </p:txBody>
      </p:sp>
      <p:pic>
        <p:nvPicPr>
          <p:cNvPr id="197" name="Google Shape;197;p22" title="dhcp.png"/>
          <p:cNvPicPr preferRelativeResize="0"/>
          <p:nvPr/>
        </p:nvPicPr>
        <p:blipFill rotWithShape="1">
          <a:blip r:embed="rId3">
            <a:alphaModFix/>
          </a:blip>
          <a:srcRect l="-42836" r="46682"/>
          <a:stretch/>
        </p:blipFill>
        <p:spPr>
          <a:xfrm>
            <a:off x="610400" y="1514075"/>
            <a:ext cx="796779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title="dhcp pic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488" y="1351375"/>
            <a:ext cx="172402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32F8C099-19E5-4D0F-9808-557F42E8FEFA}"/>
              </a:ext>
            </a:extLst>
          </p:cNvPr>
          <p:cNvSpPr txBox="1"/>
          <p:nvPr/>
        </p:nvSpPr>
        <p:spPr>
          <a:xfrm>
            <a:off x="8218311" y="519289"/>
            <a:ext cx="925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WEISS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68F3F190-780B-48E4-B034-26104D04F0B7}"/>
              </a:ext>
            </a:extLst>
          </p:cNvPr>
          <p:cNvSpPr/>
          <p:nvPr/>
        </p:nvSpPr>
        <p:spPr>
          <a:xfrm>
            <a:off x="4081725" y="227775"/>
            <a:ext cx="2574256" cy="11236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med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DCC51D-C558-402B-934D-18E7B564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Oldal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D55CD0A-442C-488A-9333-CAA5E8F74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5AE4183-913C-4839-8864-BAAB82966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800"/>
            <a:ext cx="9144000" cy="4414015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045481AC-651D-45D7-B6B2-8A08AA939A09}"/>
              </a:ext>
            </a:extLst>
          </p:cNvPr>
          <p:cNvSpPr txBox="1"/>
          <p:nvPr/>
        </p:nvSpPr>
        <p:spPr>
          <a:xfrm>
            <a:off x="8336400" y="393750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BLAKE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B3EA6C57-C036-4317-98FD-3E2BB9C1D7C4}"/>
              </a:ext>
            </a:extLst>
          </p:cNvPr>
          <p:cNvSpPr/>
          <p:nvPr/>
        </p:nvSpPr>
        <p:spPr>
          <a:xfrm>
            <a:off x="0" y="850800"/>
            <a:ext cx="9144000" cy="44140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6643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62C196-F6E5-44D0-84DB-517B3D3E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Oldal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33C3CDF-2FB8-41CB-B225-4EB1D2E91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1516" y="1567550"/>
            <a:ext cx="4444884" cy="2911200"/>
          </a:xfrm>
        </p:spPr>
        <p:txBody>
          <a:bodyPr/>
          <a:lstStyle/>
          <a:p>
            <a:pPr marL="146050" indent="0">
              <a:buNone/>
            </a:pPr>
            <a:r>
              <a:rPr lang="hu-HU" dirty="0"/>
              <a:t>Telefonokon: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56FD0BA-53C5-4809-B679-36F62E673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487" y="0"/>
            <a:ext cx="3258448" cy="51435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34C57D01-F2F8-44E6-97FD-3C7874D57A12}"/>
              </a:ext>
            </a:extLst>
          </p:cNvPr>
          <p:cNvSpPr txBox="1"/>
          <p:nvPr/>
        </p:nvSpPr>
        <p:spPr>
          <a:xfrm>
            <a:off x="4572000" y="643467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u="sng" dirty="0">
                <a:solidFill>
                  <a:schemeClr val="bg1"/>
                </a:solidFill>
              </a:rPr>
              <a:t>BLAKE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070C0783-7556-4181-BADD-A2DA8582B38F}"/>
              </a:ext>
            </a:extLst>
          </p:cNvPr>
          <p:cNvSpPr/>
          <p:nvPr/>
        </p:nvSpPr>
        <p:spPr>
          <a:xfrm>
            <a:off x="4075814" y="1567550"/>
            <a:ext cx="1395673" cy="46681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392FFA2E-302B-4188-931E-1239A3326D9E}"/>
              </a:ext>
            </a:extLst>
          </p:cNvPr>
          <p:cNvSpPr/>
          <p:nvPr/>
        </p:nvSpPr>
        <p:spPr>
          <a:xfrm>
            <a:off x="5471487" y="0"/>
            <a:ext cx="3258448" cy="51435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133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11486C-FAB4-4D7B-804B-FC2439A9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i="1" u="sng" dirty="0"/>
              <a:t>KONKLÚZIÓ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0A32643-4693-4F9B-BD52-E1E8F4931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CCNA</a:t>
            </a:r>
            <a:r>
              <a:rPr lang="hu-HU" dirty="0"/>
              <a:t> szintű hálózati infrastruktúra megtervezése és konfigurálása.</a:t>
            </a:r>
          </a:p>
          <a:p>
            <a:endParaRPr lang="hu-HU" dirty="0"/>
          </a:p>
          <a:p>
            <a:r>
              <a:rPr lang="hu-HU" dirty="0"/>
              <a:t>Strukturált </a:t>
            </a:r>
            <a:r>
              <a:rPr lang="hu-HU" b="1" dirty="0"/>
              <a:t>IP</a:t>
            </a:r>
            <a:r>
              <a:rPr lang="hu-HU" dirty="0"/>
              <a:t>-címzés, </a:t>
            </a:r>
            <a:r>
              <a:rPr lang="hu-HU" b="1" dirty="0"/>
              <a:t>VLAN</a:t>
            </a:r>
            <a:r>
              <a:rPr lang="hu-HU" dirty="0"/>
              <a:t>-ok és </a:t>
            </a:r>
            <a:r>
              <a:rPr lang="hu-HU" b="1" dirty="0" err="1"/>
              <a:t>routing</a:t>
            </a:r>
            <a:r>
              <a:rPr lang="hu-HU" dirty="0"/>
              <a:t> alkalmazása az alhálózatok közötti kommunikációhoz. </a:t>
            </a:r>
          </a:p>
          <a:p>
            <a:endParaRPr lang="hu-HU" dirty="0"/>
          </a:p>
          <a:p>
            <a:r>
              <a:rPr lang="hu-HU" dirty="0"/>
              <a:t>A hálózat működésének ellenőrzése </a:t>
            </a:r>
            <a:r>
              <a:rPr lang="hu-HU" b="1" dirty="0" err="1"/>
              <a:t>ping</a:t>
            </a:r>
            <a:r>
              <a:rPr lang="hu-HU" b="1" dirty="0"/>
              <a:t> </a:t>
            </a:r>
            <a:r>
              <a:rPr lang="hu-HU" dirty="0"/>
              <a:t>és</a:t>
            </a:r>
            <a:r>
              <a:rPr lang="hu-HU" b="1" dirty="0"/>
              <a:t> </a:t>
            </a:r>
            <a:r>
              <a:rPr lang="hu-HU" b="1" dirty="0" err="1"/>
              <a:t>traceroute</a:t>
            </a:r>
            <a:r>
              <a:rPr lang="hu-HU" b="1" dirty="0"/>
              <a:t> </a:t>
            </a:r>
            <a:r>
              <a:rPr lang="hu-HU" dirty="0"/>
              <a:t>parancsokkal</a:t>
            </a:r>
          </a:p>
          <a:p>
            <a:endParaRPr lang="hu-HU" dirty="0"/>
          </a:p>
          <a:p>
            <a:r>
              <a:rPr lang="hu-HU" dirty="0"/>
              <a:t>A projekt igazolja az elméleti ismeretek gyakorlati alkalmazását és a stabil hálózati működést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FDCBF84A-B7B4-4246-939D-D91B1639C984}"/>
              </a:ext>
            </a:extLst>
          </p:cNvPr>
          <p:cNvSpPr/>
          <p:nvPr/>
        </p:nvSpPr>
        <p:spPr>
          <a:xfrm>
            <a:off x="1396408" y="1567550"/>
            <a:ext cx="6939991" cy="22176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9874431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Diavetítés a képernyőre (16:9 oldalarány)</PresentationFormat>
  <Paragraphs>66</Paragraphs>
  <Slides>22</Slides>
  <Notes>17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6" baseType="lpstr">
      <vt:lpstr>Arial</vt:lpstr>
      <vt:lpstr>Lato</vt:lpstr>
      <vt:lpstr>Montserrat</vt:lpstr>
      <vt:lpstr>Focus</vt:lpstr>
      <vt:lpstr>DotNyetWork</vt:lpstr>
      <vt:lpstr>Projekten Dolgozók</vt:lpstr>
      <vt:lpstr>Eszközeink</vt:lpstr>
      <vt:lpstr>Topológia</vt:lpstr>
      <vt:lpstr>Ruby telephely fizikai eszközökön</vt:lpstr>
      <vt:lpstr>IP táblázat</vt:lpstr>
      <vt:lpstr>SSH</vt:lpstr>
      <vt:lpstr>SSH Teszt</vt:lpstr>
      <vt:lpstr>SSH User</vt:lpstr>
      <vt:lpstr>VLAN</vt:lpstr>
      <vt:lpstr>ETHERCHANNEL</vt:lpstr>
      <vt:lpstr>HSRP</vt:lpstr>
      <vt:lpstr>HSRP TESZT</vt:lpstr>
      <vt:lpstr>DINAMIKUS FORGALOMIRÁNYÍTÁS</vt:lpstr>
      <vt:lpstr>DINAMIKUS FORGALOMIRÁNYÍTÁS</vt:lpstr>
      <vt:lpstr>NAT</vt:lpstr>
      <vt:lpstr>PPP</vt:lpstr>
      <vt:lpstr>TUNNEL</vt:lpstr>
      <vt:lpstr>DHCP</vt:lpstr>
      <vt:lpstr>Oldal</vt:lpstr>
      <vt:lpstr>Oldal</vt:lpstr>
      <vt:lpstr>KONKLÚZIÓ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DotNyetWork</dc:title>
  <cp:lastModifiedBy>Fazekas Dominik</cp:lastModifiedBy>
  <cp:revision>18</cp:revision>
  <dcterms:modified xsi:type="dcterms:W3CDTF">2026-01-14T09:56:05Z</dcterms:modified>
</cp:coreProperties>
</file>