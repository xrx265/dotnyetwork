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78" r:id="rId6"/>
    <p:sldId id="260" r:id="rId7"/>
    <p:sldId id="261" r:id="rId8"/>
    <p:sldId id="262" r:id="rId9"/>
    <p:sldId id="263" r:id="rId10"/>
    <p:sldId id="264" r:id="rId11"/>
    <p:sldId id="279" r:id="rId12"/>
    <p:sldId id="266" r:id="rId13"/>
    <p:sldId id="268" r:id="rId14"/>
    <p:sldId id="269" r:id="rId15"/>
    <p:sldId id="270" r:id="rId16"/>
    <p:sldId id="271" r:id="rId17"/>
    <p:sldId id="277" r:id="rId18"/>
    <p:sldId id="272" r:id="rId19"/>
    <p:sldId id="280" r:id="rId20"/>
    <p:sldId id="267" r:id="rId21"/>
    <p:sldId id="281" r:id="rId22"/>
    <p:sldId id="265" r:id="rId23"/>
    <p:sldId id="273" r:id="rId24"/>
    <p:sldId id="275" r:id="rId25"/>
    <p:sldId id="276" r:id="rId26"/>
  </p:sldIdLst>
  <p:sldSz cx="9144000" cy="5143500" type="screen16x9"/>
  <p:notesSz cx="6858000" cy="9144000"/>
  <p:embeddedFontLst>
    <p:embeddedFont>
      <p:font typeface="Lato" panose="020B0604020202020204" charset="-18"/>
      <p:regular r:id="rId28"/>
      <p:bold r:id="rId29"/>
      <p:italic r:id="rId30"/>
      <p:boldItalic r:id="rId31"/>
    </p:embeddedFont>
    <p:embeddedFont>
      <p:font typeface="Montserrat" panose="020B0604020202020204" charset="-18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zekas Dominik" initials="FD" lastIdx="1" clrIdx="0">
    <p:extLst>
      <p:ext uri="{19B8F6BF-5375-455C-9EA6-DF929625EA0E}">
        <p15:presenceInfo xmlns:p15="http://schemas.microsoft.com/office/powerpoint/2012/main" userId="S-1-5-21-2604211897-728469581-1642377047-1222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07" y="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2-04T12:46:41.028" idx="1">
    <p:pos x="10" y="10"/>
    <p:text/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c14da508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c14da508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c13a02943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c13a02943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c13a02943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9c13a02943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c13a02943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c13a02943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9c13a02943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9c13a02943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a299dda798_1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a299dda798_1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a299dda798_1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a299dda798_1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9c13a02943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9c13a02943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9c13a02943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9c13a02943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47644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9c13a02943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9c13a02943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299dda798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a299dda798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9c13a02943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9c13a02943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a299dda798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a299dda798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299dda798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299dda798_1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a299dda798_1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a299dda798_1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a299dda798_1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a299dda798_1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08846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a299dda79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a299dda798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a299dda79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a299dda798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360807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9c13a02943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9c13a02943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jp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b="1" i="1" u="sng" dirty="0"/>
              <a:t>DotNyetWork</a:t>
            </a:r>
            <a:endParaRPr b="1" i="1" u="sng" dirty="0"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5366550" y="397727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we nyet to network issues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 thruBlk="1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>
            <a:spLocks noGrp="1"/>
          </p:cNvSpPr>
          <p:nvPr>
            <p:ph type="title"/>
          </p:nvPr>
        </p:nvSpPr>
        <p:spPr>
          <a:xfrm>
            <a:off x="1220033" y="3518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b="1" dirty="0"/>
              <a:t>Projekten Dolgozók</a:t>
            </a:r>
            <a:endParaRPr b="1" dirty="0"/>
          </a:p>
        </p:txBody>
      </p:sp>
      <p:sp>
        <p:nvSpPr>
          <p:cNvPr id="141" name="Google Shape;141;p14"/>
          <p:cNvSpPr txBox="1">
            <a:spLocks noGrp="1"/>
          </p:cNvSpPr>
          <p:nvPr>
            <p:ph type="body" idx="1"/>
          </p:nvPr>
        </p:nvSpPr>
        <p:spPr>
          <a:xfrm>
            <a:off x="546375" y="1567550"/>
            <a:ext cx="77901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" dirty="0"/>
              <a:t>Ötvös Bence Elek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hu" dirty="0"/>
              <a:t>Somogyi Bánk</a:t>
            </a:r>
            <a:endParaRPr dirty="0"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endParaRPr lang="hu" dirty="0"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hu" dirty="0"/>
              <a:t>Fazekas Dominik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sp>
        <p:nvSpPr>
          <p:cNvPr id="2" name="Téglalap 1">
            <a:extLst>
              <a:ext uri="{FF2B5EF4-FFF2-40B4-BE49-F238E27FC236}">
                <a16:creationId xmlns:a16="http://schemas.microsoft.com/office/drawing/2014/main" id="{EADBC9DC-3451-4C03-8590-DCE6C6578568}"/>
              </a:ext>
            </a:extLst>
          </p:cNvPr>
          <p:cNvSpPr/>
          <p:nvPr/>
        </p:nvSpPr>
        <p:spPr>
          <a:xfrm>
            <a:off x="432391" y="1495647"/>
            <a:ext cx="8272130" cy="2911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>
            <a:spLocks noGrp="1"/>
          </p:cNvSpPr>
          <p:nvPr>
            <p:ph type="title"/>
          </p:nvPr>
        </p:nvSpPr>
        <p:spPr>
          <a:xfrm>
            <a:off x="3633250" y="3453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b="1" dirty="0"/>
              <a:t>Eszközeink</a:t>
            </a:r>
            <a:endParaRPr b="1" dirty="0"/>
          </a:p>
        </p:txBody>
      </p:sp>
      <p:sp>
        <p:nvSpPr>
          <p:cNvPr id="147" name="Google Shape;147;p1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48" name="Google Shape;14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8250" y="2403450"/>
            <a:ext cx="6172200" cy="16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églalap 1">
            <a:extLst>
              <a:ext uri="{FF2B5EF4-FFF2-40B4-BE49-F238E27FC236}">
                <a16:creationId xmlns:a16="http://schemas.microsoft.com/office/drawing/2014/main" id="{9317512C-DAA7-4B7F-BE78-8DC47D6DD8E8}"/>
              </a:ext>
            </a:extLst>
          </p:cNvPr>
          <p:cNvSpPr/>
          <p:nvPr/>
        </p:nvSpPr>
        <p:spPr>
          <a:xfrm>
            <a:off x="1538250" y="2403450"/>
            <a:ext cx="6172200" cy="16764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b="1" dirty="0"/>
              <a:t>Topológia</a:t>
            </a:r>
            <a:endParaRPr b="1" dirty="0"/>
          </a:p>
        </p:txBody>
      </p:sp>
      <p:sp>
        <p:nvSpPr>
          <p:cNvPr id="154" name="Google Shape;154;p1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461320A7-A290-4A9E-88B7-F8F2047E1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6781" y="1196206"/>
            <a:ext cx="6390437" cy="3653887"/>
          </a:xfrm>
          <a:prstGeom prst="rect">
            <a:avLst/>
          </a:prstGeom>
        </p:spPr>
      </p:pic>
    </p:spTree>
  </p:cSld>
  <p:clrMapOvr>
    <a:masterClrMapping/>
  </p:clrMapOvr>
  <p:transition spd="med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9C75D7D-6EF7-488B-8831-B5129060D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Ruby</a:t>
            </a:r>
            <a:r>
              <a:rPr lang="hu-HU" b="1" dirty="0"/>
              <a:t> telephely fizikai eszközökön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9497D70-4829-4294-8B48-CDEE7F2658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E6DB6FAA-12A5-4362-86DC-A1D22DFC6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355" y="1312518"/>
            <a:ext cx="5163290" cy="3750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835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7"/>
          <p:cNvSpPr txBox="1">
            <a:spLocks noGrp="1"/>
          </p:cNvSpPr>
          <p:nvPr>
            <p:ph type="title"/>
          </p:nvPr>
        </p:nvSpPr>
        <p:spPr>
          <a:xfrm>
            <a:off x="3814775" y="4421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IP táblázat</a:t>
            </a:r>
            <a:endParaRPr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97842778-9365-46D5-88B1-69C9887120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823" y="195203"/>
            <a:ext cx="5782353" cy="4753094"/>
          </a:xfrm>
          <a:prstGeom prst="rect">
            <a:avLst/>
          </a:prstGeom>
        </p:spPr>
      </p:pic>
      <p:sp>
        <p:nvSpPr>
          <p:cNvPr id="2" name="Téglalap 1">
            <a:extLst>
              <a:ext uri="{FF2B5EF4-FFF2-40B4-BE49-F238E27FC236}">
                <a16:creationId xmlns:a16="http://schemas.microsoft.com/office/drawing/2014/main" id="{B4745D11-5081-40EA-8E2A-BC009FA1ADFE}"/>
              </a:ext>
            </a:extLst>
          </p:cNvPr>
          <p:cNvSpPr/>
          <p:nvPr/>
        </p:nvSpPr>
        <p:spPr>
          <a:xfrm>
            <a:off x="1680823" y="195203"/>
            <a:ext cx="5782353" cy="475309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8"/>
          <p:cNvSpPr txBox="1">
            <a:spLocks noGrp="1"/>
          </p:cNvSpPr>
          <p:nvPr>
            <p:ph type="title"/>
          </p:nvPr>
        </p:nvSpPr>
        <p:spPr>
          <a:xfrm>
            <a:off x="1297500" y="442150"/>
            <a:ext cx="97104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b="1" dirty="0"/>
              <a:t>SSH</a:t>
            </a:r>
            <a:endParaRPr b="1" dirty="0"/>
          </a:p>
        </p:txBody>
      </p:sp>
      <p:sp>
        <p:nvSpPr>
          <p:cNvPr id="168" name="Google Shape;168;p1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69" name="Google Shape;169;p18" title="SSh-logi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775" y="2040250"/>
            <a:ext cx="8734425" cy="18192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4F823660-E971-42C2-8B0B-4C9790FABA21}"/>
              </a:ext>
            </a:extLst>
          </p:cNvPr>
          <p:cNvSpPr txBox="1"/>
          <p:nvPr/>
        </p:nvSpPr>
        <p:spPr>
          <a:xfrm>
            <a:off x="7676444" y="356973"/>
            <a:ext cx="1467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2" name="Téglalap 1">
            <a:extLst>
              <a:ext uri="{FF2B5EF4-FFF2-40B4-BE49-F238E27FC236}">
                <a16:creationId xmlns:a16="http://schemas.microsoft.com/office/drawing/2014/main" id="{42A6CCB3-ECD5-4838-8057-6AC0F69BB6CF}"/>
              </a:ext>
            </a:extLst>
          </p:cNvPr>
          <p:cNvSpPr/>
          <p:nvPr/>
        </p:nvSpPr>
        <p:spPr>
          <a:xfrm>
            <a:off x="204775" y="2040250"/>
            <a:ext cx="8734425" cy="181927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9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b="1" dirty="0"/>
              <a:t>SSH Teszt</a:t>
            </a:r>
            <a:endParaRPr b="1" dirty="0"/>
          </a:p>
        </p:txBody>
      </p:sp>
      <p:sp>
        <p:nvSpPr>
          <p:cNvPr id="175" name="Google Shape;175;p19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76" name="Google Shape;176;p19" title="ssh-tesz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5" y="1905950"/>
            <a:ext cx="8782050" cy="26860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B546EA56-CE57-45B4-8663-59825161B8F4}"/>
              </a:ext>
            </a:extLst>
          </p:cNvPr>
          <p:cNvSpPr txBox="1"/>
          <p:nvPr/>
        </p:nvSpPr>
        <p:spPr>
          <a:xfrm>
            <a:off x="8015111" y="270933"/>
            <a:ext cx="9479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70C15EC9-7BFF-4492-AEB2-81095EEFBD4C}"/>
              </a:ext>
            </a:extLst>
          </p:cNvPr>
          <p:cNvSpPr/>
          <p:nvPr/>
        </p:nvSpPr>
        <p:spPr>
          <a:xfrm>
            <a:off x="180975" y="1905950"/>
            <a:ext cx="8782050" cy="268605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b="1" dirty="0"/>
              <a:t>SSH User</a:t>
            </a:r>
            <a:endParaRPr b="1" dirty="0"/>
          </a:p>
        </p:txBody>
      </p:sp>
      <p:sp>
        <p:nvSpPr>
          <p:cNvPr id="182" name="Google Shape;182;p20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83" name="Google Shape;183;p20" title="ssh-us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00" y="1685388"/>
            <a:ext cx="5524600" cy="26755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9F956935-442A-40B4-8352-0512ED864FC3}"/>
              </a:ext>
            </a:extLst>
          </p:cNvPr>
          <p:cNvSpPr txBox="1"/>
          <p:nvPr/>
        </p:nvSpPr>
        <p:spPr>
          <a:xfrm>
            <a:off x="7811911" y="393750"/>
            <a:ext cx="11740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5C699394-0EC5-4C8C-A4CF-2CB91B454BA2}"/>
              </a:ext>
            </a:extLst>
          </p:cNvPr>
          <p:cNvSpPr/>
          <p:nvPr/>
        </p:nvSpPr>
        <p:spPr>
          <a:xfrm>
            <a:off x="1809700" y="1685388"/>
            <a:ext cx="5524600" cy="267552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1"/>
          <p:cNvSpPr txBox="1">
            <a:spLocks noGrp="1"/>
          </p:cNvSpPr>
          <p:nvPr>
            <p:ph type="title"/>
          </p:nvPr>
        </p:nvSpPr>
        <p:spPr>
          <a:xfrm>
            <a:off x="1038578" y="321100"/>
            <a:ext cx="4030794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b="1" dirty="0"/>
              <a:t>VLAN</a:t>
            </a:r>
            <a:endParaRPr b="1" dirty="0"/>
          </a:p>
        </p:txBody>
      </p:sp>
      <p:sp>
        <p:nvSpPr>
          <p:cNvPr id="189" name="Google Shape;189;p21"/>
          <p:cNvSpPr txBox="1">
            <a:spLocks noGrp="1"/>
          </p:cNvSpPr>
          <p:nvPr>
            <p:ph type="body" idx="1"/>
          </p:nvPr>
        </p:nvSpPr>
        <p:spPr>
          <a:xfrm>
            <a:off x="1668339" y="1597183"/>
            <a:ext cx="161334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Vlan 10 és 20 létrehozása hálózatok elkülönítése érdekében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" dirty="0"/>
              <a:t>Vlan1 megszüntetése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" dirty="0"/>
              <a:t>Vlan 100 a  native Vlan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 dirty="0"/>
              <a:t>Vlan 999 nem használt portok</a:t>
            </a: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64F7722-3697-48B6-8BCB-F065D194AF13}"/>
              </a:ext>
            </a:extLst>
          </p:cNvPr>
          <p:cNvSpPr txBox="1"/>
          <p:nvPr/>
        </p:nvSpPr>
        <p:spPr>
          <a:xfrm>
            <a:off x="7744178" y="553156"/>
            <a:ext cx="13998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A0E1922F-B4C7-4F78-A07C-51A48480F7F4}"/>
              </a:ext>
            </a:extLst>
          </p:cNvPr>
          <p:cNvSpPr/>
          <p:nvPr/>
        </p:nvSpPr>
        <p:spPr>
          <a:xfrm>
            <a:off x="1668339" y="1674135"/>
            <a:ext cx="1613340" cy="273558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9A9DEF83-AE8C-4336-98BD-841FBB3BC753}"/>
              </a:ext>
            </a:extLst>
          </p:cNvPr>
          <p:cNvSpPr/>
          <p:nvPr/>
        </p:nvSpPr>
        <p:spPr>
          <a:xfrm>
            <a:off x="3281680" y="1466239"/>
            <a:ext cx="5760720" cy="290500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4B2E6F3F-8053-4E9D-8CC6-9E3590C441A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1680" y="1466238"/>
            <a:ext cx="5760720" cy="2943483"/>
          </a:xfrm>
          <a:prstGeom prst="rect">
            <a:avLst/>
          </a:prstGeom>
        </p:spPr>
      </p:pic>
    </p:spTree>
  </p:cSld>
  <p:clrMapOvr>
    <a:masterClrMapping/>
  </p:clrMapOvr>
  <p:transition spd="med"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1"/>
          <p:cNvSpPr txBox="1">
            <a:spLocks noGrp="1"/>
          </p:cNvSpPr>
          <p:nvPr>
            <p:ph type="title"/>
          </p:nvPr>
        </p:nvSpPr>
        <p:spPr>
          <a:xfrm>
            <a:off x="1038578" y="321100"/>
            <a:ext cx="4030794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b="1" dirty="0"/>
              <a:t>VLAN</a:t>
            </a:r>
            <a:endParaRPr b="1"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64F7722-3697-48B6-8BCB-F065D194AF13}"/>
              </a:ext>
            </a:extLst>
          </p:cNvPr>
          <p:cNvSpPr txBox="1"/>
          <p:nvPr/>
        </p:nvSpPr>
        <p:spPr>
          <a:xfrm>
            <a:off x="7744178" y="553156"/>
            <a:ext cx="13998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9A9DEF83-AE8C-4336-98BD-841FBB3BC753}"/>
              </a:ext>
            </a:extLst>
          </p:cNvPr>
          <p:cNvSpPr/>
          <p:nvPr/>
        </p:nvSpPr>
        <p:spPr>
          <a:xfrm>
            <a:off x="3981591" y="1538125"/>
            <a:ext cx="5162409" cy="290500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287A946-F3DB-4578-98BE-7CEFDBC080B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6268" y="1538125"/>
            <a:ext cx="5147732" cy="2905006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D84336E1-EE75-4925-9C3B-81EAACBE7310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46520"/>
            <a:ext cx="3825240" cy="2796611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742872652"/>
      </p:ext>
    </p:extLst>
  </p:cSld>
  <p:clrMapOvr>
    <a:masterClrMapping/>
  </p:clrMapOvr>
  <p:transition spd="med"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3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b="1" dirty="0"/>
              <a:t>ETHERCHANNEL</a:t>
            </a:r>
            <a:endParaRPr b="1" dirty="0"/>
          </a:p>
        </p:txBody>
      </p:sp>
      <p:sp>
        <p:nvSpPr>
          <p:cNvPr id="204" name="Google Shape;204;p23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ruby telephely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 dirty="0"/>
              <a:t>megbízhatóság</a:t>
            </a:r>
            <a:endParaRPr dirty="0"/>
          </a:p>
        </p:txBody>
      </p:sp>
      <p:pic>
        <p:nvPicPr>
          <p:cNvPr id="205" name="Google Shape;205;p23" title="EtherChannel-Summar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7555" y="1567550"/>
            <a:ext cx="4945019" cy="226810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5B0D86C7-1BA1-4B76-9295-963C1110ECC4}"/>
              </a:ext>
            </a:extLst>
          </p:cNvPr>
          <p:cNvSpPr txBox="1"/>
          <p:nvPr/>
        </p:nvSpPr>
        <p:spPr>
          <a:xfrm>
            <a:off x="7721600" y="393750"/>
            <a:ext cx="1422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30F8D374-1220-45D7-BBBC-2BA2B9211202}"/>
              </a:ext>
            </a:extLst>
          </p:cNvPr>
          <p:cNvSpPr/>
          <p:nvPr/>
        </p:nvSpPr>
        <p:spPr>
          <a:xfrm>
            <a:off x="1247553" y="1630326"/>
            <a:ext cx="1304261" cy="68757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16454E43-415E-42AA-A16E-7859ADB82A40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426" y="2418966"/>
            <a:ext cx="3556485" cy="2559434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</p:spTree>
  </p:cSld>
  <p:clrMapOvr>
    <a:masterClrMapping/>
  </p:clrMapOvr>
  <p:transition spd="med"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5"/>
          <p:cNvSpPr txBox="1">
            <a:spLocks noGrp="1"/>
          </p:cNvSpPr>
          <p:nvPr>
            <p:ph type="title"/>
          </p:nvPr>
        </p:nvSpPr>
        <p:spPr>
          <a:xfrm>
            <a:off x="3390925" y="4146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b="1" dirty="0"/>
              <a:t>HSRP</a:t>
            </a:r>
            <a:endParaRPr b="1" dirty="0"/>
          </a:p>
        </p:txBody>
      </p:sp>
      <p:sp>
        <p:nvSpPr>
          <p:cNvPr id="219" name="Google Shape;219;p25"/>
          <p:cNvSpPr txBox="1">
            <a:spLocks noGrp="1"/>
          </p:cNvSpPr>
          <p:nvPr>
            <p:ph type="body" idx="1"/>
          </p:nvPr>
        </p:nvSpPr>
        <p:spPr>
          <a:xfrm>
            <a:off x="1297500" y="956675"/>
            <a:ext cx="7038900" cy="352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ruby router 1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ruby router 2</a:t>
            </a:r>
            <a:endParaRPr/>
          </a:p>
        </p:txBody>
      </p:sp>
      <p:pic>
        <p:nvPicPr>
          <p:cNvPr id="220" name="Google Shape;220;p25" title="HSRP-config-Ruby-R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7500" y="1328763"/>
            <a:ext cx="6838950" cy="136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5" title="hsrp-config-Ruby-R2.png"/>
          <p:cNvPicPr preferRelativeResize="0"/>
          <p:nvPr/>
        </p:nvPicPr>
        <p:blipFill rotWithShape="1">
          <a:blip r:embed="rId4">
            <a:alphaModFix/>
          </a:blip>
          <a:srcRect r="8164"/>
          <a:stretch/>
        </p:blipFill>
        <p:spPr>
          <a:xfrm>
            <a:off x="1297500" y="3215875"/>
            <a:ext cx="6910750" cy="16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5D4CBEB-784E-4456-82D2-C702071F0818}"/>
              </a:ext>
            </a:extLst>
          </p:cNvPr>
          <p:cNvSpPr txBox="1"/>
          <p:nvPr/>
        </p:nvSpPr>
        <p:spPr>
          <a:xfrm>
            <a:off x="7868356" y="598311"/>
            <a:ext cx="12756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b="1" dirty="0"/>
              <a:t>HSRP </a:t>
            </a:r>
            <a:r>
              <a:rPr lang="hu-HU" b="1" dirty="0"/>
              <a:t>TESZT</a:t>
            </a:r>
            <a:endParaRPr b="1"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CB19240A-04D1-489B-9B92-30EBC5903D44}"/>
              </a:ext>
            </a:extLst>
          </p:cNvPr>
          <p:cNvSpPr txBox="1"/>
          <p:nvPr/>
        </p:nvSpPr>
        <p:spPr>
          <a:xfrm>
            <a:off x="8240889" y="393751"/>
            <a:ext cx="118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EE6F24F1-FE84-4D0C-A76B-C8DB673CAF31}"/>
              </a:ext>
            </a:extLst>
          </p:cNvPr>
          <p:cNvSpPr/>
          <p:nvPr/>
        </p:nvSpPr>
        <p:spPr>
          <a:xfrm>
            <a:off x="207678" y="1307850"/>
            <a:ext cx="3962400" cy="188859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06B4B0FF-209D-476C-880A-3E4F221BAE1A}"/>
              </a:ext>
            </a:extLst>
          </p:cNvPr>
          <p:cNvSpPr/>
          <p:nvPr/>
        </p:nvSpPr>
        <p:spPr>
          <a:xfrm>
            <a:off x="3730476" y="3297299"/>
            <a:ext cx="4605924" cy="16234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3E257D1C-2CFD-445D-81B0-B40AED6F506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0475" y="3297300"/>
            <a:ext cx="4605925" cy="16234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F7DB2910-8E38-436F-A7E8-E087A676B873}"/>
              </a:ext>
            </a:extLst>
          </p:cNvPr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78" y="1357990"/>
            <a:ext cx="3962400" cy="183845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80D785C7-E837-4319-91BE-BDA2BF030B2B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2866" y="393750"/>
            <a:ext cx="3938024" cy="2586517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</p:spTree>
  </p:cSld>
  <p:clrMapOvr>
    <a:masterClrMapping/>
  </p:clrMapOvr>
  <p:transition spd="med">
    <p:fade thruBlk="1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b="1" dirty="0"/>
              <a:t>DINAMIKUS FORGALOMIRÁNYÍTÁS</a:t>
            </a:r>
            <a:endParaRPr b="1" dirty="0"/>
          </a:p>
        </p:txBody>
      </p:sp>
      <p:sp>
        <p:nvSpPr>
          <p:cNvPr id="235" name="Google Shape;235;p27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36" name="Google Shape;236;p27" title="OSPF-ip-protocol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91113" y="1198225"/>
            <a:ext cx="4829175" cy="352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7" title="ospf-ipv6-protocol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4605" y="1198229"/>
            <a:ext cx="4395701" cy="35242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88559A2-C1B2-4349-85C1-4EE00F0B02E1}"/>
              </a:ext>
            </a:extLst>
          </p:cNvPr>
          <p:cNvSpPr txBox="1"/>
          <p:nvPr/>
        </p:nvSpPr>
        <p:spPr>
          <a:xfrm>
            <a:off x="8173156" y="421021"/>
            <a:ext cx="1047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8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algn="ctr"/>
            <a:r>
              <a:rPr lang="hu-HU" b="1" dirty="0"/>
              <a:t>DINAMIKUS FORGALOMIRÁNYÍTÁS</a:t>
            </a:r>
            <a:endParaRPr b="1" dirty="0"/>
          </a:p>
        </p:txBody>
      </p:sp>
      <p:sp>
        <p:nvSpPr>
          <p:cNvPr id="243" name="Google Shape;243;p2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44" name="Google Shape;244;p28" title="ip-ospf-databas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697" y="1567550"/>
            <a:ext cx="4786875" cy="219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8" title="ipv6-ospf-databas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16852" y="1307850"/>
            <a:ext cx="3509144" cy="29112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6E664F86-C88D-4E48-AA6D-B1EB6A2999F3}"/>
              </a:ext>
            </a:extLst>
          </p:cNvPr>
          <p:cNvSpPr txBox="1"/>
          <p:nvPr/>
        </p:nvSpPr>
        <p:spPr>
          <a:xfrm>
            <a:off x="8336400" y="393750"/>
            <a:ext cx="9656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BB0A95C-25B1-4FC5-A3FC-139AF3F42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NAT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99785AC-FE95-4615-AD2D-9FFBCC148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A21DDE84-E699-4195-B0DA-9C8FC4C62C27}"/>
              </a:ext>
            </a:extLst>
          </p:cNvPr>
          <p:cNvSpPr txBox="1"/>
          <p:nvPr/>
        </p:nvSpPr>
        <p:spPr>
          <a:xfrm>
            <a:off x="8222512" y="545805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504A6B4-2B9F-4E4E-97D6-0856EDE1F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696" y="2410371"/>
            <a:ext cx="7814608" cy="1091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3981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9"/>
          <p:cNvSpPr txBox="1">
            <a:spLocks noGrp="1"/>
          </p:cNvSpPr>
          <p:nvPr>
            <p:ph type="title"/>
          </p:nvPr>
        </p:nvSpPr>
        <p:spPr>
          <a:xfrm>
            <a:off x="4052825" y="393750"/>
            <a:ext cx="42837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b="1" dirty="0"/>
              <a:t>PPP</a:t>
            </a:r>
            <a:endParaRPr b="1" dirty="0"/>
          </a:p>
        </p:txBody>
      </p:sp>
      <p:sp>
        <p:nvSpPr>
          <p:cNvPr id="251" name="Google Shape;251;p29"/>
          <p:cNvSpPr txBox="1">
            <a:spLocks noGrp="1"/>
          </p:cNvSpPr>
          <p:nvPr>
            <p:ph type="body" idx="1"/>
          </p:nvPr>
        </p:nvSpPr>
        <p:spPr>
          <a:xfrm>
            <a:off x="2270950" y="139160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52" name="Google Shape;252;p29" title="Encapsulation PPP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0950" y="1963925"/>
            <a:ext cx="4859200" cy="107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9" title="Encapsulation PPP-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70950" y="3236000"/>
            <a:ext cx="4859200" cy="109723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DA67FA36-C22B-4C95-9AF2-9C9A281BF7D0}"/>
              </a:ext>
            </a:extLst>
          </p:cNvPr>
          <p:cNvSpPr txBox="1"/>
          <p:nvPr/>
        </p:nvSpPr>
        <p:spPr>
          <a:xfrm>
            <a:off x="8336525" y="393750"/>
            <a:ext cx="973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9"/>
          <p:cNvSpPr txBox="1">
            <a:spLocks noGrp="1"/>
          </p:cNvSpPr>
          <p:nvPr>
            <p:ph type="title"/>
          </p:nvPr>
        </p:nvSpPr>
        <p:spPr>
          <a:xfrm>
            <a:off x="4052825" y="393750"/>
            <a:ext cx="42837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b="1" dirty="0"/>
              <a:t>PPP</a:t>
            </a:r>
            <a:endParaRPr b="1" dirty="0"/>
          </a:p>
        </p:txBody>
      </p:sp>
      <p:sp>
        <p:nvSpPr>
          <p:cNvPr id="251" name="Google Shape;251;p29"/>
          <p:cNvSpPr txBox="1">
            <a:spLocks noGrp="1"/>
          </p:cNvSpPr>
          <p:nvPr>
            <p:ph type="body" idx="1"/>
          </p:nvPr>
        </p:nvSpPr>
        <p:spPr>
          <a:xfrm>
            <a:off x="2270950" y="139160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A67FA36-C22B-4C95-9AF2-9C9A281BF7D0}"/>
              </a:ext>
            </a:extLst>
          </p:cNvPr>
          <p:cNvSpPr txBox="1"/>
          <p:nvPr/>
        </p:nvSpPr>
        <p:spPr>
          <a:xfrm>
            <a:off x="8336525" y="393750"/>
            <a:ext cx="973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4FB0B26C-EF8D-40F9-9A95-CF25953E18F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0950" y="1307850"/>
            <a:ext cx="4709160" cy="2903220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27478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b="1" dirty="0"/>
              <a:t>TUNNEL</a:t>
            </a:r>
            <a:endParaRPr b="1" dirty="0"/>
          </a:p>
        </p:txBody>
      </p:sp>
      <p:sp>
        <p:nvSpPr>
          <p:cNvPr id="211" name="Google Shape;211;p24"/>
          <p:cNvSpPr txBox="1">
            <a:spLocks noGrp="1"/>
          </p:cNvSpPr>
          <p:nvPr>
            <p:ph type="body" idx="1"/>
          </p:nvPr>
        </p:nvSpPr>
        <p:spPr>
          <a:xfrm>
            <a:off x="5777385" y="1519344"/>
            <a:ext cx="30558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hu" dirty="0">
                <a:solidFill>
                  <a:schemeClr val="bg1"/>
                </a:solidFill>
              </a:rPr>
              <a:t>weiss és ruby </a:t>
            </a:r>
            <a:r>
              <a:rPr lang="hu" dirty="0"/>
              <a:t>telephelyek között csináltuk meg</a:t>
            </a:r>
            <a:endParaRPr dirty="0"/>
          </a:p>
        </p:txBody>
      </p:sp>
      <p:pic>
        <p:nvPicPr>
          <p:cNvPr id="212" name="Google Shape;212;p24" title="tu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3196" y="938896"/>
            <a:ext cx="3138050" cy="14727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83DB250-3CC8-45B6-BD2A-F6BEBC4DD089}"/>
              </a:ext>
            </a:extLst>
          </p:cNvPr>
          <p:cNvSpPr txBox="1"/>
          <p:nvPr/>
        </p:nvSpPr>
        <p:spPr>
          <a:xfrm>
            <a:off x="7518400" y="541867"/>
            <a:ext cx="17610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WEISS</a:t>
            </a:r>
            <a:r>
              <a:rPr lang="hu" b="1" u="sng" dirty="0">
                <a:solidFill>
                  <a:schemeClr val="bg1"/>
                </a:solidFill>
              </a:rPr>
              <a:t> és </a:t>
            </a:r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C6FB1BC1-E6C1-437C-BC82-920C8AF7DC7A}"/>
              </a:ext>
            </a:extLst>
          </p:cNvPr>
          <p:cNvSpPr/>
          <p:nvPr/>
        </p:nvSpPr>
        <p:spPr>
          <a:xfrm>
            <a:off x="5777385" y="1464369"/>
            <a:ext cx="2559015" cy="74152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FE6CBFD9-4953-420E-BDE6-CD0F646AE7FF}"/>
              </a:ext>
            </a:extLst>
          </p:cNvPr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856" y="2571750"/>
            <a:ext cx="3741420" cy="86868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14CEC4F8-EF14-400C-8A0C-FE9A9C3BD7DB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3858210"/>
            <a:ext cx="3946525" cy="8915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C3C78A29-B2F1-4B27-AC0E-195BF0B18D4D}"/>
              </a:ext>
            </a:extLst>
          </p:cNvPr>
          <p:cNvSpPr txBox="1"/>
          <p:nvPr/>
        </p:nvSpPr>
        <p:spPr>
          <a:xfrm>
            <a:off x="4436533" y="3023150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F79E3BC6-2F91-43C5-B739-F09AFE076D52}"/>
              </a:ext>
            </a:extLst>
          </p:cNvPr>
          <p:cNvSpPr/>
          <p:nvPr/>
        </p:nvSpPr>
        <p:spPr>
          <a:xfrm>
            <a:off x="4425244" y="3006090"/>
            <a:ext cx="673481" cy="43434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0FB0B315-D9A0-49A0-878A-52213802C61D}"/>
              </a:ext>
            </a:extLst>
          </p:cNvPr>
          <p:cNvSpPr txBox="1"/>
          <p:nvPr/>
        </p:nvSpPr>
        <p:spPr>
          <a:xfrm>
            <a:off x="3509924" y="4170973"/>
            <a:ext cx="7649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</a:rPr>
              <a:t>WEISS</a:t>
            </a:r>
          </a:p>
        </p:txBody>
      </p:sp>
      <p:sp>
        <p:nvSpPr>
          <p:cNvPr id="13" name="Téglalap 12">
            <a:extLst>
              <a:ext uri="{FF2B5EF4-FFF2-40B4-BE49-F238E27FC236}">
                <a16:creationId xmlns:a16="http://schemas.microsoft.com/office/drawing/2014/main" id="{F6509E99-92DA-4761-BD6E-02274BBE0542}"/>
              </a:ext>
            </a:extLst>
          </p:cNvPr>
          <p:cNvSpPr/>
          <p:nvPr/>
        </p:nvSpPr>
        <p:spPr>
          <a:xfrm>
            <a:off x="3498635" y="4153913"/>
            <a:ext cx="776242" cy="43434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b="1" dirty="0"/>
              <a:t>TUNNEL</a:t>
            </a:r>
            <a:endParaRPr b="1"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83DB250-3CC8-45B6-BD2A-F6BEBC4DD089}"/>
              </a:ext>
            </a:extLst>
          </p:cNvPr>
          <p:cNvSpPr txBox="1"/>
          <p:nvPr/>
        </p:nvSpPr>
        <p:spPr>
          <a:xfrm>
            <a:off x="7518400" y="541867"/>
            <a:ext cx="17610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WEISS</a:t>
            </a:r>
            <a:r>
              <a:rPr lang="hu" b="1" u="sng" dirty="0">
                <a:solidFill>
                  <a:schemeClr val="bg1"/>
                </a:solidFill>
              </a:rPr>
              <a:t> és </a:t>
            </a:r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B1B23B4-F3DE-4554-A08A-951FC0F41260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9827" y="1047750"/>
            <a:ext cx="4284345" cy="3048000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2265575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2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b="1" dirty="0"/>
              <a:t>DHCP</a:t>
            </a:r>
            <a:endParaRPr b="1" dirty="0"/>
          </a:p>
        </p:txBody>
      </p:sp>
      <p:sp>
        <p:nvSpPr>
          <p:cNvPr id="196" name="Google Shape;196;p22"/>
          <p:cNvSpPr txBox="1">
            <a:spLocks noGrp="1"/>
          </p:cNvSpPr>
          <p:nvPr>
            <p:ph type="body" idx="1"/>
          </p:nvPr>
        </p:nvSpPr>
        <p:spPr>
          <a:xfrm>
            <a:off x="4081725" y="227775"/>
            <a:ext cx="2757300" cy="33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Weiss telephely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laptopok accesspoint tól kapnak DHCP-t</a:t>
            </a:r>
            <a:endParaRPr/>
          </a:p>
        </p:txBody>
      </p:sp>
      <p:pic>
        <p:nvPicPr>
          <p:cNvPr id="198" name="Google Shape;198;p22" title="dhcp pic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7488" y="1351375"/>
            <a:ext cx="1724025" cy="34956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32F8C099-19E5-4D0F-9808-557F42E8FEFA}"/>
              </a:ext>
            </a:extLst>
          </p:cNvPr>
          <p:cNvSpPr txBox="1"/>
          <p:nvPr/>
        </p:nvSpPr>
        <p:spPr>
          <a:xfrm>
            <a:off x="8218311" y="519289"/>
            <a:ext cx="925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WEISS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68F3F190-780B-48E4-B034-26104D04F0B7}"/>
              </a:ext>
            </a:extLst>
          </p:cNvPr>
          <p:cNvSpPr/>
          <p:nvPr/>
        </p:nvSpPr>
        <p:spPr>
          <a:xfrm>
            <a:off x="4081725" y="227775"/>
            <a:ext cx="2574256" cy="11236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6E1A7E81-CAA2-4A01-9FC4-50943CE9F897}"/>
              </a:ext>
            </a:extLst>
          </p:cNvPr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261" y="2010839"/>
            <a:ext cx="5014072" cy="23383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  <p:transition spd="med">
    <p:fade thruBlk="1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DCC51D-C558-402B-934D-18E7B564D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Oldal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D55CD0A-442C-488A-9333-CAA5E8F74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5AE4183-913C-4839-8864-BAAB82966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0800"/>
            <a:ext cx="9144000" cy="4414015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045481AC-651D-45D7-B6B2-8A08AA939A09}"/>
              </a:ext>
            </a:extLst>
          </p:cNvPr>
          <p:cNvSpPr txBox="1"/>
          <p:nvPr/>
        </p:nvSpPr>
        <p:spPr>
          <a:xfrm>
            <a:off x="8336400" y="393750"/>
            <a:ext cx="8034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BLAKE</a:t>
            </a: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B3EA6C57-C036-4317-98FD-3E2BB9C1D7C4}"/>
              </a:ext>
            </a:extLst>
          </p:cNvPr>
          <p:cNvSpPr/>
          <p:nvPr/>
        </p:nvSpPr>
        <p:spPr>
          <a:xfrm>
            <a:off x="0" y="850800"/>
            <a:ext cx="9144000" cy="441401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6643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D62C196-F6E5-44D0-84DB-517B3D3E0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Oldal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33C3CDF-2FB8-41CB-B225-4EB1D2E91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91516" y="1567550"/>
            <a:ext cx="4444884" cy="2911200"/>
          </a:xfrm>
        </p:spPr>
        <p:txBody>
          <a:bodyPr/>
          <a:lstStyle/>
          <a:p>
            <a:pPr marL="146050" indent="0">
              <a:buNone/>
            </a:pPr>
            <a:r>
              <a:rPr lang="hu-HU" dirty="0"/>
              <a:t>Telefonokon: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56FD0BA-53C5-4809-B679-36F62E673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1487" y="0"/>
            <a:ext cx="3258448" cy="514350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34C57D01-F2F8-44E6-97FD-3C7874D57A12}"/>
              </a:ext>
            </a:extLst>
          </p:cNvPr>
          <p:cNvSpPr txBox="1"/>
          <p:nvPr/>
        </p:nvSpPr>
        <p:spPr>
          <a:xfrm>
            <a:off x="4572000" y="643467"/>
            <a:ext cx="8034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BLAKE</a:t>
            </a: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070C0783-7556-4181-BADD-A2DA8582B38F}"/>
              </a:ext>
            </a:extLst>
          </p:cNvPr>
          <p:cNvSpPr/>
          <p:nvPr/>
        </p:nvSpPr>
        <p:spPr>
          <a:xfrm>
            <a:off x="4075814" y="1567550"/>
            <a:ext cx="1395673" cy="46681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392FFA2E-302B-4188-931E-1239A3326D9E}"/>
              </a:ext>
            </a:extLst>
          </p:cNvPr>
          <p:cNvSpPr/>
          <p:nvPr/>
        </p:nvSpPr>
        <p:spPr>
          <a:xfrm>
            <a:off x="5471487" y="0"/>
            <a:ext cx="3258448" cy="51435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41339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311486C-FAB4-4D7B-804B-FC2439A92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i="1" u="sng" dirty="0"/>
              <a:t>KONKLÚZIÓ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0A32643-4693-4F9B-BD52-E1E8F49314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b="1" dirty="0"/>
              <a:t>CCNA</a:t>
            </a:r>
            <a:r>
              <a:rPr lang="hu-HU" dirty="0"/>
              <a:t> szintű hálózati infrastruktúra megtervezése és konfigurálása.</a:t>
            </a:r>
          </a:p>
          <a:p>
            <a:endParaRPr lang="hu-HU" dirty="0"/>
          </a:p>
          <a:p>
            <a:r>
              <a:rPr lang="hu-HU" dirty="0"/>
              <a:t>Strukturált </a:t>
            </a:r>
            <a:r>
              <a:rPr lang="hu-HU" b="1" dirty="0"/>
              <a:t>IP</a:t>
            </a:r>
            <a:r>
              <a:rPr lang="hu-HU" dirty="0"/>
              <a:t>-címzés, </a:t>
            </a:r>
            <a:r>
              <a:rPr lang="hu-HU" b="1" dirty="0"/>
              <a:t>VLAN</a:t>
            </a:r>
            <a:r>
              <a:rPr lang="hu-HU" dirty="0"/>
              <a:t>-ok és </a:t>
            </a:r>
            <a:r>
              <a:rPr lang="hu-HU" b="1" dirty="0" err="1"/>
              <a:t>routing</a:t>
            </a:r>
            <a:r>
              <a:rPr lang="hu-HU" dirty="0"/>
              <a:t> alkalmazása az alhálózatok közötti kommunikációhoz. </a:t>
            </a:r>
          </a:p>
          <a:p>
            <a:endParaRPr lang="hu-HU" dirty="0"/>
          </a:p>
          <a:p>
            <a:r>
              <a:rPr lang="hu-HU" dirty="0"/>
              <a:t>A hálózat működésének ellenőrzése </a:t>
            </a:r>
            <a:r>
              <a:rPr lang="hu-HU" b="1" dirty="0" err="1"/>
              <a:t>ping</a:t>
            </a:r>
            <a:r>
              <a:rPr lang="hu-HU" b="1" dirty="0"/>
              <a:t> </a:t>
            </a:r>
            <a:r>
              <a:rPr lang="hu-HU" dirty="0"/>
              <a:t>és</a:t>
            </a:r>
            <a:r>
              <a:rPr lang="hu-HU" b="1" dirty="0"/>
              <a:t> </a:t>
            </a:r>
            <a:r>
              <a:rPr lang="hu-HU" b="1" dirty="0" err="1"/>
              <a:t>traceroute</a:t>
            </a:r>
            <a:r>
              <a:rPr lang="hu-HU" b="1" dirty="0"/>
              <a:t> </a:t>
            </a:r>
            <a:r>
              <a:rPr lang="hu-HU" dirty="0"/>
              <a:t>parancsokkal</a:t>
            </a:r>
          </a:p>
          <a:p>
            <a:endParaRPr lang="hu-HU" dirty="0"/>
          </a:p>
          <a:p>
            <a:r>
              <a:rPr lang="hu-HU" dirty="0"/>
              <a:t>A projekt igazolja az elméleti ismeretek gyakorlati alkalmazását és a stabil hálózati működést</a:t>
            </a: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FDCBF84A-B7B4-4246-939D-D91B1639C984}"/>
              </a:ext>
            </a:extLst>
          </p:cNvPr>
          <p:cNvSpPr/>
          <p:nvPr/>
        </p:nvSpPr>
        <p:spPr>
          <a:xfrm>
            <a:off x="1396408" y="1567550"/>
            <a:ext cx="6939991" cy="22176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39874431"/>
      </p:ext>
    </p:extLst>
  </p:cSld>
  <p:clrMapOvr>
    <a:masterClrMapping/>
  </p:clrMapOvr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</Words>
  <Application>Microsoft Office PowerPoint</Application>
  <PresentationFormat>Diavetítés a képernyőre (16:9 oldalarány)</PresentationFormat>
  <Paragraphs>74</Paragraphs>
  <Slides>25</Slides>
  <Notes>20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25</vt:i4>
      </vt:variant>
    </vt:vector>
  </HeadingPairs>
  <TitlesOfParts>
    <vt:vector size="29" baseType="lpstr">
      <vt:lpstr>Lato</vt:lpstr>
      <vt:lpstr>Arial</vt:lpstr>
      <vt:lpstr>Montserrat</vt:lpstr>
      <vt:lpstr>Focus</vt:lpstr>
      <vt:lpstr>DotNyetWork</vt:lpstr>
      <vt:lpstr>Projekten Dolgozók</vt:lpstr>
      <vt:lpstr>Eszközeink</vt:lpstr>
      <vt:lpstr>Topológia</vt:lpstr>
      <vt:lpstr>Ruby telephely fizikai eszközökön</vt:lpstr>
      <vt:lpstr>IP táblázat</vt:lpstr>
      <vt:lpstr>SSH</vt:lpstr>
      <vt:lpstr>SSH Teszt</vt:lpstr>
      <vt:lpstr>SSH User</vt:lpstr>
      <vt:lpstr>VLAN</vt:lpstr>
      <vt:lpstr>VLAN</vt:lpstr>
      <vt:lpstr>ETHERCHANNEL</vt:lpstr>
      <vt:lpstr>HSRP</vt:lpstr>
      <vt:lpstr>HSRP TESZT</vt:lpstr>
      <vt:lpstr>DINAMIKUS FORGALOMIRÁNYÍTÁS</vt:lpstr>
      <vt:lpstr>DINAMIKUS FORGALOMIRÁNYÍTÁS</vt:lpstr>
      <vt:lpstr>NAT</vt:lpstr>
      <vt:lpstr>PPP</vt:lpstr>
      <vt:lpstr>PPP</vt:lpstr>
      <vt:lpstr>TUNNEL</vt:lpstr>
      <vt:lpstr>TUNNEL</vt:lpstr>
      <vt:lpstr>DHCP</vt:lpstr>
      <vt:lpstr>Oldal</vt:lpstr>
      <vt:lpstr>Oldal</vt:lpstr>
      <vt:lpstr>KONKLÚZIÓ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DotNyetWork</dc:title>
  <cp:lastModifiedBy>Fazekas Dominik</cp:lastModifiedBy>
  <cp:revision>23</cp:revision>
  <dcterms:modified xsi:type="dcterms:W3CDTF">2026-01-21T06:21:23Z</dcterms:modified>
</cp:coreProperties>
</file>